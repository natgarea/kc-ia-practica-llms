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396777a6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396777a6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396777a66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9396777a66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396777a66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9396777a66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9396777a66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9396777a66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396777a66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396777a66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96777a66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96777a66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9396777a66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9396777a66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hyperlink" Target="https://unsplash.com/es/@kattyukawa?utm_source=unsplash&amp;utm_medium=referral&amp;utm_content=creditCopyText" TargetMode="External"/><Relationship Id="rId5" Type="http://schemas.openxmlformats.org/officeDocument/2006/relationships/hyperlink" Target="https://unsplash.com/es/@kattyukawa?utm_source=unsplash&amp;utm_medium=referral&amp;utm_content=creditCopyText" TargetMode="External"/><Relationship Id="rId6" Type="http://schemas.openxmlformats.org/officeDocument/2006/relationships/hyperlink" Target="https://unsplash.com/es/fotos/persona-que-muestra-ambas-manos-con-una-nota-de-cambio-y-monedas-K0E6E0a0R3A?utm_source=unsplash&amp;utm_medium=referral&amp;utm_content=creditCopyText" TargetMode="External"/><Relationship Id="rId7" Type="http://schemas.openxmlformats.org/officeDocument/2006/relationships/hyperlink" Target="https://unsplash.com/es/fotos/persona-que-muestra-ambas-manos-con-una-nota-de-cambio-y-monedas-K0E6E0a0R3A?utm_source=unsplash&amp;utm_medium=referral&amp;utm_content=creditCopyTex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natgarea/kc-ia-practica-llms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Donor Copilot</a:t>
            </a:r>
            <a:endParaRPr/>
          </a:p>
        </p:txBody>
      </p:sp>
      <p:sp>
        <p:nvSpPr>
          <p:cNvPr id="86" name="Google Shape;86;p1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</a:t>
            </a:r>
            <a:r>
              <a:rPr lang="en-GB"/>
              <a:t>áctica módulo LLMs: recomendador de organizaciones benéficas con RAG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El problema</a:t>
            </a:r>
            <a:endParaRPr/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GB" sz="1500"/>
              <a:t>Elegir una organización benéfica fiable y de alto impacto no es fácil</a:t>
            </a:r>
            <a:br>
              <a:rPr lang="en-GB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GB" sz="1500"/>
              <a:t>La i</a:t>
            </a:r>
            <a:r>
              <a:rPr lang="en-GB" sz="1500"/>
              <a:t>nformación sobre impacto y transparencia está dispersa y es difícil de evaluar</a:t>
            </a:r>
            <a:br>
              <a:rPr lang="en-GB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GB" sz="1500"/>
              <a:t>Existen evaluadores como GiveWell o The Life You Can Save</a:t>
            </a:r>
            <a:br>
              <a:rPr lang="en-GB" sz="1500"/>
            </a:b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GB" sz="1500"/>
              <a:t>Si le pedimos consejo para elegir una a un LLM genérico puede alucinar</a:t>
            </a:r>
            <a:endParaRPr sz="1500"/>
          </a:p>
        </p:txBody>
      </p:sp>
      <p:pic>
        <p:nvPicPr>
          <p:cNvPr id="93" name="Google Shape;93;p14" title="katt-yukawa-K0E6E0a0R3A-unsplash.jpg"/>
          <p:cNvPicPr preferRelativeResize="0"/>
          <p:nvPr/>
        </p:nvPicPr>
        <p:blipFill rotWithShape="1">
          <a:blip r:embed="rId3">
            <a:alphaModFix/>
          </a:blip>
          <a:srcRect b="0" l="16401" r="0" t="0"/>
          <a:stretch/>
        </p:blipFill>
        <p:spPr>
          <a:xfrm>
            <a:off x="4742650" y="1229975"/>
            <a:ext cx="3999898" cy="318897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4753801" y="4340901"/>
            <a:ext cx="39141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/>
              <a:t>Foto de</a:t>
            </a:r>
            <a:r>
              <a:rPr lang="en-GB" sz="1100">
                <a:uFill>
                  <a:noFill/>
                </a:uFill>
                <a:hlinkClick r:id="rId4"/>
              </a:rPr>
              <a:t> </a:t>
            </a:r>
            <a:r>
              <a:rPr lang="en-GB" sz="1100" u="sng">
                <a:solidFill>
                  <a:schemeClr val="hlink"/>
                </a:solidFill>
                <a:hlinkClick r:id="rId5"/>
              </a:rPr>
              <a:t>Katt Yukawa</a:t>
            </a:r>
            <a:r>
              <a:rPr lang="en-GB" sz="1100"/>
              <a:t> en</a:t>
            </a:r>
            <a:r>
              <a:rPr lang="en-GB" sz="1100">
                <a:uFill>
                  <a:noFill/>
                </a:uFill>
                <a:hlinkClick r:id="rId6"/>
              </a:rPr>
              <a:t> </a:t>
            </a:r>
            <a:r>
              <a:rPr lang="en-GB" sz="1100" u="sng">
                <a:solidFill>
                  <a:schemeClr val="hlink"/>
                </a:solidFill>
                <a:hlinkClick r:id="rId7"/>
              </a:rPr>
              <a:t>Unsplash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Enfoque RAG</a:t>
            </a:r>
            <a:endParaRPr/>
          </a:p>
        </p:txBody>
      </p:sp>
      <p:sp>
        <p:nvSpPr>
          <p:cNvPr id="100" name="Google Shape;100;p1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/>
              <a:t>Pretendemos hacer un PoC con:</a:t>
            </a:r>
            <a:endParaRPr sz="21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Generación Aumentada por Recuperación (RAG)</a:t>
            </a:r>
            <a:endParaRPr sz="21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Base de conocimiento con fuentes basadas en evidencia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2100"/>
              <a:t>El LLM deberá:</a:t>
            </a:r>
            <a:endParaRPr sz="21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Usar solo contexto recuperado</a:t>
            </a:r>
            <a:endParaRPr sz="21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Citar siempre las fuentes</a:t>
            </a:r>
            <a:endParaRPr sz="21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Rechazar responder cuando no tenga evidencia</a:t>
            </a:r>
            <a:endParaRPr sz="2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Implementación y retos</a:t>
            </a:r>
            <a:endParaRPr/>
          </a:p>
        </p:txBody>
      </p:sp>
      <p:sp>
        <p:nvSpPr>
          <p:cNvPr id="106" name="Google Shape;106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-GB" sz="2000"/>
              <a:t>Dataset generado con un LLM (Claude)</a:t>
            </a:r>
            <a:br>
              <a:rPr lang="en-GB" sz="2000"/>
            </a:br>
            <a:endParaRPr sz="2000"/>
          </a:p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-GB" sz="2000"/>
              <a:t>LlamaIndex + Chroma</a:t>
            </a:r>
            <a:br>
              <a:rPr lang="en-GB" sz="2000"/>
            </a:br>
            <a:endParaRPr sz="2000"/>
          </a:p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-GB" sz="2000"/>
              <a:t>Embeddings locales (all-MiniLM-L6-v2)</a:t>
            </a:r>
            <a:br>
              <a:rPr lang="en-GB" sz="2000"/>
            </a:br>
            <a:endParaRPr sz="2000"/>
          </a:p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-GB" sz="2000"/>
              <a:t>Modelo instruct (phi-3-mini-4k-instruct)</a:t>
            </a:r>
            <a:br>
              <a:rPr lang="en-GB" sz="2000"/>
            </a:br>
            <a:endParaRPr sz="2000"/>
          </a:p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-GB" sz="2000"/>
              <a:t>Retos:</a:t>
            </a:r>
            <a:endParaRPr sz="2000"/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-GB" sz="1600"/>
              <a:t>afinado del prompt</a:t>
            </a:r>
            <a:endParaRPr sz="1600"/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-GB" sz="1600"/>
              <a:t>control del output</a:t>
            </a:r>
            <a:endParaRPr sz="1600"/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-GB" sz="1600"/>
              <a:t>inferencia local lenta (GPU + float16)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Evaluaci</a:t>
            </a:r>
            <a:r>
              <a:rPr lang="en-GB"/>
              <a:t>ón de RAG</a:t>
            </a:r>
            <a:endParaRPr/>
          </a:p>
        </p:txBody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/>
              <a:t>Evaluación del comportamiento del sistema, no de respuestas aisladas.</a:t>
            </a:r>
            <a:br>
              <a:rPr lang="en-GB" sz="1900"/>
            </a:br>
            <a:endParaRPr sz="1900"/>
          </a:p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/>
              <a:t>Conjunto de preguntas representativas, agrupadas en:</a:t>
            </a:r>
            <a:endParaRPr sz="1900"/>
          </a:p>
          <a:p>
            <a:pPr indent="-3238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/>
              <a:t>In-scope (pobreza extrema y salud global)</a:t>
            </a:r>
            <a:endParaRPr sz="1500"/>
          </a:p>
          <a:p>
            <a:pPr indent="-3238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/>
              <a:t>Edge cases (preguntas ambiguas)</a:t>
            </a:r>
            <a:endParaRPr sz="1500"/>
          </a:p>
          <a:p>
            <a:pPr indent="-3238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/>
              <a:t>Out-of-scope (fuera del alcance)</a:t>
            </a:r>
            <a:endParaRPr sz="1500"/>
          </a:p>
          <a:p>
            <a:pPr indent="-3238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/>
              <a:t>Robustness (intentos de saltarse las normas)</a:t>
            </a:r>
            <a:br>
              <a:rPr lang="en-GB" sz="1500"/>
            </a:br>
            <a:endParaRPr sz="1500"/>
          </a:p>
          <a:p>
            <a:pPr indent="-3492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/>
              <a:t>Métricas simples y directas (sin LLM evaluador):</a:t>
            </a:r>
            <a:endParaRPr sz="1900"/>
          </a:p>
          <a:p>
            <a:pPr indent="-3238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/>
              <a:t>presencia de citas (proxy de faithfulness)</a:t>
            </a:r>
            <a:endParaRPr sz="1500"/>
          </a:p>
          <a:p>
            <a:pPr indent="-3238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/>
              <a:t>tasa de rechazo</a:t>
            </a:r>
            <a:endParaRPr sz="1500"/>
          </a:p>
          <a:p>
            <a:pPr indent="-3238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/>
              <a:t>diversidad de fuentes integradas</a:t>
            </a:r>
            <a:endParaRPr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Conclusiones</a:t>
            </a:r>
            <a:endParaRPr/>
          </a:p>
        </p:txBody>
      </p:sp>
      <p:sp>
        <p:nvSpPr>
          <p:cNvPr id="118" name="Google Shape;118;p18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RAG permite recomendaciones más controladas que un LLM genérico.</a:t>
            </a:r>
            <a:br>
              <a:rPr lang="en-GB" sz="2100"/>
            </a:br>
            <a:endParaRPr sz="21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El sistema reduce alucinaciones al usar contexto recuperado y citar fuentes.</a:t>
            </a:r>
            <a:br>
              <a:rPr lang="en-GB" sz="2100"/>
            </a:br>
            <a:endParaRPr sz="21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Mantiene reglas y formato incluso ante prompt injection.</a:t>
            </a:r>
            <a:br>
              <a:rPr lang="en-GB" sz="2100"/>
            </a:br>
            <a:endParaRPr sz="21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sz="2100"/>
              <a:t>Limitación: no rechaza explícitamente consultas</a:t>
            </a:r>
            <a:br>
              <a:rPr lang="en-GB" sz="2100"/>
            </a:br>
            <a:r>
              <a:rPr lang="en-GB" sz="2100"/>
              <a:t>ambiguas o fuera de alcance.</a:t>
            </a:r>
            <a:endParaRPr sz="2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Trabajo futuro</a:t>
            </a:r>
            <a:endParaRPr/>
          </a:p>
        </p:txBody>
      </p:sp>
      <p:sp>
        <p:nvSpPr>
          <p:cNvPr id="124" name="Google Shape;124;p19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19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GB" sz="2100"/>
              <a:t>Ampliar y validar el dataset.</a:t>
            </a:r>
            <a:br>
              <a:rPr lang="en-GB" sz="2100"/>
            </a:br>
            <a:endParaRPr sz="2100"/>
          </a:p>
          <a:p>
            <a:pPr indent="-3619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GB" sz="2100"/>
              <a:t>Añadir detección explícita de consultas fuera de alcance.</a:t>
            </a:r>
            <a:br>
              <a:rPr lang="en-GB" sz="2100"/>
            </a:br>
            <a:endParaRPr sz="2100"/>
          </a:p>
          <a:p>
            <a:pPr indent="-3619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GB" sz="2100"/>
              <a:t>Ejecutar evaluaciones más amplias con GPU.</a:t>
            </a:r>
            <a:br>
              <a:rPr lang="en-GB" sz="2100"/>
            </a:br>
            <a:endParaRPr sz="2100"/>
          </a:p>
          <a:p>
            <a:pPr indent="-3619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GB" sz="2100"/>
              <a:t>Usar métricas de evaluación más estándar.</a:t>
            </a:r>
            <a:br>
              <a:rPr lang="en-GB" sz="2100"/>
            </a:br>
            <a:endParaRPr sz="2100"/>
          </a:p>
          <a:p>
            <a:pPr indent="-3619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GB" sz="2100"/>
              <a:t>Añadir una interfaz de usuario (Streamlit).</a:t>
            </a:r>
            <a:endParaRPr sz="2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Enlace al repositorio</a:t>
            </a:r>
            <a:endParaRPr/>
          </a:p>
        </p:txBody>
      </p:sp>
      <p:sp>
        <p:nvSpPr>
          <p:cNvPr id="130" name="Google Shape;130;p20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u="sng">
                <a:solidFill>
                  <a:schemeClr val="hlink"/>
                </a:solidFill>
                <a:hlinkClick r:id="rId3"/>
              </a:rPr>
              <a:t>https://github.com/natgarea/kc-ia-practica-llms</a:t>
            </a:r>
            <a:br>
              <a:rPr lang="en-GB" sz="2100"/>
            </a:br>
            <a:endParaRPr sz="2100"/>
          </a:p>
          <a:p>
            <a:pPr indent="-361950" lvl="0" marL="457200" rtl="0" algn="l">
              <a:spcBef>
                <a:spcPts val="1200"/>
              </a:spcBef>
              <a:spcAft>
                <a:spcPts val="0"/>
              </a:spcAft>
              <a:buSzPts val="2100"/>
              <a:buChar char="●"/>
            </a:pPr>
            <a:r>
              <a:rPr lang="en-GB" sz="2100"/>
              <a:t>El README contiene una explicación más detallada.</a:t>
            </a:r>
            <a:br>
              <a:rPr lang="en-GB" sz="2100"/>
            </a:b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-GB" sz="2100"/>
              <a:t>Los notebooks tienen comentarios relevantes a</a:t>
            </a:r>
            <a:br>
              <a:rPr lang="en-GB" sz="2100"/>
            </a:br>
            <a:r>
              <a:rPr lang="en-GB" sz="2100"/>
              <a:t>los pasos que se aplican.</a:t>
            </a:r>
            <a:endParaRPr sz="2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